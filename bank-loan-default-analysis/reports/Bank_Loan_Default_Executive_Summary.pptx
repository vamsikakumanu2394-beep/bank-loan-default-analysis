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microsoft.com/office/2011/relationships/webextensiontaskpanes" Target="ppt/webextensions/taskpanes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9079992" y="0"/>
            <a:ext cx="3108960" cy="6858000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4" name="Shape 2"/>
          <p:cNvSpPr/>
          <p:nvPr/>
        </p:nvSpPr>
        <p:spPr>
          <a:xfrm>
            <a:off x="9445752" y="6172200"/>
            <a:ext cx="292608" cy="365760"/>
          </a:xfrm>
          <a:prstGeom prst="rect">
            <a:avLst/>
          </a:prstGeom>
          <a:solidFill>
            <a:srgbClr val="22304F"/>
          </a:solidFill>
          <a:ln/>
        </p:spPr>
      </p:sp>
      <p:sp>
        <p:nvSpPr>
          <p:cNvPr id="5" name="Shape 3"/>
          <p:cNvSpPr/>
          <p:nvPr/>
        </p:nvSpPr>
        <p:spPr>
          <a:xfrm>
            <a:off x="9948672" y="5971032"/>
            <a:ext cx="292608" cy="566928"/>
          </a:xfrm>
          <a:prstGeom prst="rect">
            <a:avLst/>
          </a:prstGeom>
          <a:solidFill>
            <a:srgbClr val="22304F"/>
          </a:solidFill>
          <a:ln/>
        </p:spPr>
      </p:sp>
      <p:sp>
        <p:nvSpPr>
          <p:cNvPr id="6" name="Shape 4"/>
          <p:cNvSpPr/>
          <p:nvPr/>
        </p:nvSpPr>
        <p:spPr>
          <a:xfrm>
            <a:off x="10451592" y="5769864"/>
            <a:ext cx="292608" cy="768096"/>
          </a:xfrm>
          <a:prstGeom prst="rect">
            <a:avLst/>
          </a:prstGeom>
          <a:solidFill>
            <a:srgbClr val="22304F"/>
          </a:solidFill>
          <a:ln/>
        </p:spPr>
      </p:sp>
      <p:sp>
        <p:nvSpPr>
          <p:cNvPr id="7" name="Shape 5"/>
          <p:cNvSpPr/>
          <p:nvPr/>
        </p:nvSpPr>
        <p:spPr>
          <a:xfrm>
            <a:off x="10954512" y="5568696"/>
            <a:ext cx="292608" cy="969264"/>
          </a:xfrm>
          <a:prstGeom prst="rect">
            <a:avLst/>
          </a:prstGeom>
          <a:solidFill>
            <a:srgbClr val="22304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5367528"/>
            <a:ext cx="292608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CREDIT RISK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Bank Loan Default Analysis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49808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Default Prediction &amp; Credit-Risk Insights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886200"/>
            <a:ext cx="20116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6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case study  ·  Dataset: Default_Fin.csv (10,000 records)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6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for: Credit Risk &amp; Lending Decisions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6172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Figures describe the supplied dataset — associations, not causation.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 ·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Loan Default Analysis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Default_Fin.csv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observed default rate is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3.33%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 highly imbalanced target (≈1 defaulter per 29 customers).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balance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the single dominant signal — default climbs from 0% (&lt;5k) to 40.85% (&gt;20k). Unemployed customers default more (4.31% vs 2.92%) but modestly; salary shows almost no relationship.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9D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Findings should inform — not automate — lending decisions.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18288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993392"/>
            <a:ext cx="2514600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257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3.33%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647688" y="2898648"/>
            <a:ext cx="2295144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Default 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0" y="18288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0" y="1993392"/>
            <a:ext cx="2514600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333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436608" y="2898648"/>
            <a:ext cx="2295144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Defaulters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8862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4050792"/>
            <a:ext cx="2514600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9D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70.56%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6647688" y="4956048"/>
            <a:ext cx="2295144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Employed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38862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0" y="4050792"/>
            <a:ext cx="2514600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0.948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436608" y="4956048"/>
            <a:ext cx="2295144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ROC-AUC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 ·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Loan Default Analysis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Default_Fin.csv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28800"/>
            <a:ext cx="82296" cy="1783080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10" name="Image 0" descr="icon_1792599381396_4m43cgkh11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12140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0848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10,000 records · 5 columns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00200" y="267004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Index, Employed, Bank Balance, Annual Salary, Defaulted?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1828800"/>
            <a:ext cx="82296" cy="1783080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15" name="Image 1" descr="icon_1792599381409_4ix0z7nsx0l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212140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0848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 data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269480" y="267004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 missing values · 0 duplicate rows · no negatives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886200"/>
            <a:ext cx="82296" cy="178308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0" name="Image 2" descr="icon_1792599381427_9p6mgr1waxg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17880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142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variable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00200" y="472744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Defaulted? — 333 defaulters (1) vs 9,667 non-defaulters (0)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0936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09360" y="3886200"/>
            <a:ext cx="82296" cy="1783080"/>
          </a:xfrm>
          <a:prstGeom prst="rect">
            <a:avLst/>
          </a:prstGeom>
          <a:solidFill>
            <a:srgbClr val="E2574C"/>
          </a:solidFill>
          <a:ln/>
        </p:spPr>
      </p:sp>
      <p:pic>
        <p:nvPicPr>
          <p:cNvPr id="25" name="Image 3" descr="icon_1792599381447_n87m2d0h6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0" y="417880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4142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challenge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269480" y="472744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Imbalanced at 3.33% — accuracy misleads; use recall / PR-AUC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· 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Loan Default Analysis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Default_Fin.csv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Overall Default Rate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Q1 — How many customers defaulted?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484632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257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3.33%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333 defaulters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10,000 customers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286000"/>
            <a:ext cx="48463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A9D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96.67%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5943600" y="3794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9,667 non-defaulters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recorded default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model predicting “no default” for everyone would be 96.67% accurate yet useless — which is why the imbalance drives the choice of evaluation metrics.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· 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Loan Default Analysis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Default_Fin.csv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Employment vs Default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— Does employment status relate to default risk?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54203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257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4.31%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32688" y="37490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Unemployed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237744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0" y="254203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9D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2.92%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224528" y="37490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Employed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2606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~1.5×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58952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default rate when unemployed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B6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vs the 3.33% overall baseline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genuine but modest difference — employment alone is a weak classifier because both rates are low and the groups overlap heavily on other features.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· 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Loan Default Analysis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Default_Fin.csv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Bank Balance — The Dominant Driver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Q3 / Q5 — How does bank balance relate to default?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0–5k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2368296"/>
            <a:ext cx="4206240" cy="292608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11" name="Shape 9"/>
          <p:cNvSpPr/>
          <p:nvPr/>
        </p:nvSpPr>
        <p:spPr>
          <a:xfrm>
            <a:off x="1965960" y="2368296"/>
            <a:ext cx="36576" cy="2926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0.00%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8986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5k–10k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65960" y="2935224"/>
            <a:ext cx="4206240" cy="292608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15" name="Shape 13"/>
          <p:cNvSpPr/>
          <p:nvPr/>
        </p:nvSpPr>
        <p:spPr>
          <a:xfrm>
            <a:off x="1965960" y="2935224"/>
            <a:ext cx="36576" cy="2926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898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4655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10k–15k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3502152"/>
            <a:ext cx="4206240" cy="292608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19" name="Shape 17"/>
          <p:cNvSpPr/>
          <p:nvPr/>
        </p:nvSpPr>
        <p:spPr>
          <a:xfrm>
            <a:off x="1965960" y="3502152"/>
            <a:ext cx="81345" cy="2926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465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0.79%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032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15k–20k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65960" y="4069080"/>
            <a:ext cx="4206240" cy="292608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23" name="Shape 21"/>
          <p:cNvSpPr/>
          <p:nvPr/>
        </p:nvSpPr>
        <p:spPr>
          <a:xfrm>
            <a:off x="1965960" y="4069080"/>
            <a:ext cx="712538" cy="2926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0325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6.92%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599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20k+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65960" y="4636008"/>
            <a:ext cx="4206240" cy="292608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27" name="Shape 25"/>
          <p:cNvSpPr/>
          <p:nvPr/>
        </p:nvSpPr>
        <p:spPr>
          <a:xfrm>
            <a:off x="1965960" y="4636008"/>
            <a:ext cx="4206240" cy="292608"/>
          </a:xfrm>
          <a:prstGeom prst="rect">
            <a:avLst/>
          </a:prstGeom>
          <a:solidFill>
            <a:srgbClr val="E2574C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599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40.85%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22860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0.35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7726680" y="3337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correlation with default — the largest of any feature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26680" y="39776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Defaulters hold ~2.2× the balance 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AB6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non-defaulters (20,974 vs 9,647). A striking association — not proof that higher balances cause default.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· 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Loan Default Analysis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Default_Fin.csv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Salary Is Not Predictive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Q4 — Does annual salary relate to default risk?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430280"/>
            <a:ext cx="6281928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022592" y="33022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3.33%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334268"/>
            <a:ext cx="1051560" cy="13748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867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3.58%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82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&lt;150k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93392" y="3123042"/>
            <a:ext cx="1051560" cy="158611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856232" y="277557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4.13%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782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150k–300k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00984" y="3606942"/>
            <a:ext cx="1051560" cy="110221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3163824" y="325947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2.87%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63824" y="4782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300k–450k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8576" y="3622304"/>
            <a:ext cx="1051560" cy="10868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4471416" y="327483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2.83%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71416" y="4782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450k–600k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16168" y="3322747"/>
            <a:ext cx="1051560" cy="138641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779008" y="2975275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3.61%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79008" y="4782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600k+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0" y="24688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0" y="2633472"/>
            <a:ext cx="2651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−0.02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8796528" y="3566160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Correlation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95360" y="4434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Default rate stays flat near the baseline across every salary band — salary is not a useful standalone predictor.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 · 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Loan Default Analysis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Default_Fin.csv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Baseline Default-Prediction Model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Q6 — Can the bank identify high-risk customers?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450592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0.948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32688" y="3246120"/>
            <a:ext cx="229514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ROC-AUC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2860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2450592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9D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0.549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3721608" y="3246120"/>
            <a:ext cx="229514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PR-AUC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2860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450592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9D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510528" y="3246120"/>
            <a:ext cx="229514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Recall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22860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89720" y="2450592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257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0.19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299448" y="3246120"/>
            <a:ext cx="229514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2062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4203A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4370832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Logistic regression, 70/30 stratified split, class-weighted for the 3.33% imbalance. 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4A8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balance dominates the coefficients.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AB6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High ROC-AUC confirms the features rank risk well; low precision at the 0.5 threshold is a tuning choice, not a failure. This validates signal — it is not a production credit model.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 ·  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Loan Default Analysis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Default_Fin.csv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039112"/>
            <a:ext cx="603504" cy="60350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0" name="Image 0" descr="icon_1792599381463_6kkiyol5tj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16712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Balance-based early warning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96112" y="304495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Route high-balance accounts (15k+) to enhanced review, not auto-decisioning.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45152" y="2039112"/>
            <a:ext cx="603504" cy="60350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5" name="Image 1" descr="icon_1792599381475_t1ug72m037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16712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515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Rank, don’t reject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645152" y="304495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Score and rank applicants by default probability to prioritise manual review.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94192" y="2039112"/>
            <a:ext cx="603504" cy="60350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0" name="Image 2" descr="icon_1792599381489_gqcs73t5qbl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16712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9419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Tune threshold to cost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394192" y="304495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 the cutoff to minimise expected cost once loss/profit figures are known.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6112" y="4005072"/>
            <a:ext cx="603504" cy="60350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5" name="Image 3" descr="icon_1792599381503_2b1uxhknc3k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413308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6112" y="46634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Investigate the balance effect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96112" y="50109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 why high balances coincide with default before operationalising it.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8912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5152" y="4005072"/>
            <a:ext cx="603504" cy="60350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0" name="Image 4" descr="icon_1792599381517_ll8hb1ddcd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4133088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45152" y="46634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 fair lending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645152" y="50109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 the features create no prohibited disparate impact.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13816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94192" y="4005072"/>
            <a:ext cx="603504" cy="60350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5" name="Image 5" descr="icon_1792599381530_0t7dlkiy3ts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4133088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394192" y="46634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Enrich the data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8394192" y="50109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credit score, loan amount, repayment history before lending use.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 · 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22960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THE DATA CAN’T TELL 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Findings are associations, not causation.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credit score, loan amount, repayment history, tenure or debt-to-income.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loan amounts or dates — recovery and total losses cannot be computed.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Decisions must stay human-reviewed.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14203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8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NEEDED BEFORE LENDING DECISIONS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25603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Credit score / bureau history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 amount, tenure &amp; product type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Repayment history &amp; days-past-due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Debt-to-income &amp; existing obligations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Dates for recovery &amp; loss calculation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C7D2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parameters (LGD, profit on good loan)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669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analysis supports better-informed, human-reviewed risk assessment — and a foundation for a future, richer predictive model.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9F5BFF-FE90-49B2-8507-5230DC900D8F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Default Analysis — Executive Summary</dc:title>
  <dc:subject>PptxGenJS Presentation</dc:subject>
  <dc:creator>Amazon Quick</dc:creator>
  <cp:lastModifiedBy>Amazon Quick</cp:lastModifiedBy>
  <cp:revision>1</cp:revision>
  <dcterms:created xsi:type="dcterms:W3CDTF">2026-10-21T16:16:21Z</dcterms:created>
  <dcterms:modified xsi:type="dcterms:W3CDTF">2026-10-21T16:16:21Z</dcterms:modified>
</cp:coreProperties>
</file>